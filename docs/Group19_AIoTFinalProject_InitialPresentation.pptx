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b130df33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b130df33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b50c55d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b50c55d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b255b48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b255b48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b2a24042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b2a2404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b255b486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b255b486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ca7b20ef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ca7b20ef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ca7b20e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ca7b20e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AIoT Final Project:</a:t>
            </a:r>
            <a:endParaRPr/>
          </a:p>
          <a:p>
            <a:pPr indent="0" lvl="0" marL="0" rtl="0" algn="ctr">
              <a:spcBef>
                <a:spcPts val="0"/>
              </a:spcBef>
              <a:spcAft>
                <a:spcPts val="0"/>
              </a:spcAft>
              <a:buNone/>
            </a:pPr>
            <a:r>
              <a:rPr lang="en"/>
              <a:t>Group 19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DATE: 2025/10/20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230700" y="29075"/>
            <a:ext cx="8520600" cy="2229000"/>
          </a:xfrm>
          <a:prstGeom prst="rect">
            <a:avLst/>
          </a:prstGeom>
        </p:spPr>
        <p:txBody>
          <a:bodyPr anchorCtr="0" anchor="b" bIns="91425" lIns="91425" spcFirstLastPara="1" rIns="91425" wrap="square" tIns="91425">
            <a:normAutofit/>
          </a:bodyPr>
          <a:lstStyle/>
          <a:p>
            <a:pPr indent="0" lvl="0" marL="0" rtl="0" algn="ctr">
              <a:lnSpc>
                <a:spcPct val="115000"/>
              </a:lnSpc>
              <a:spcBef>
                <a:spcPts val="2400"/>
              </a:spcBef>
              <a:spcAft>
                <a:spcPts val="0"/>
              </a:spcAft>
              <a:buNone/>
            </a:pPr>
            <a:r>
              <a:rPr b="1" lang="en" sz="2100"/>
              <a:t>VitalGuard AI: </a:t>
            </a:r>
            <a:endParaRPr b="1" sz="2100"/>
          </a:p>
          <a:p>
            <a:pPr indent="0" lvl="0" marL="0" rtl="0" algn="ctr">
              <a:lnSpc>
                <a:spcPct val="115000"/>
              </a:lnSpc>
              <a:spcBef>
                <a:spcPts val="2400"/>
              </a:spcBef>
              <a:spcAft>
                <a:spcPts val="0"/>
              </a:spcAft>
              <a:buClr>
                <a:schemeClr val="dk1"/>
              </a:buClr>
              <a:buSzPts val="1100"/>
              <a:buFont typeface="Arial"/>
              <a:buNone/>
            </a:pPr>
            <a:r>
              <a:rPr b="1" lang="en" sz="1400"/>
              <a:t> An AIoT Wearable for Real‑Time Health Insights &amp; Alerts</a:t>
            </a:r>
            <a:endParaRPr b="1" sz="1400"/>
          </a:p>
          <a:p>
            <a:pPr indent="0" lvl="0" marL="0" rtl="0" algn="ctr">
              <a:spcBef>
                <a:spcPts val="600"/>
              </a:spcBef>
              <a:spcAft>
                <a:spcPts val="0"/>
              </a:spcAft>
              <a:buNone/>
            </a:pPr>
            <a:r>
              <a:t/>
            </a:r>
            <a:endParaRPr/>
          </a:p>
        </p:txBody>
      </p:sp>
      <p:sp>
        <p:nvSpPr>
          <p:cNvPr id="61" name="Google Shape;61;p14"/>
          <p:cNvSpPr txBox="1"/>
          <p:nvPr/>
        </p:nvSpPr>
        <p:spPr>
          <a:xfrm>
            <a:off x="649875" y="1468400"/>
            <a:ext cx="7053900" cy="9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What</a:t>
            </a:r>
            <a:r>
              <a:rPr b="1" lang="en" sz="1100">
                <a:solidFill>
                  <a:schemeClr val="dk1"/>
                </a:solidFill>
              </a:rPr>
              <a:t> </a:t>
            </a:r>
            <a:endParaRPr b="1" sz="1100">
              <a:solidFill>
                <a:schemeClr val="dk1"/>
              </a:solidFill>
            </a:endParaRPr>
          </a:p>
          <a:p>
            <a:pPr indent="0" lvl="0" marL="0" rtl="0" algn="l">
              <a:spcBef>
                <a:spcPts val="0"/>
              </a:spcBef>
              <a:spcAft>
                <a:spcPts val="0"/>
              </a:spcAft>
              <a:buNone/>
            </a:pPr>
            <a:r>
              <a:rPr lang="en" sz="1300">
                <a:solidFill>
                  <a:schemeClr val="dk1"/>
                </a:solidFill>
              </a:rPr>
              <a:t>      </a:t>
            </a:r>
            <a:r>
              <a:rPr lang="en" sz="1200">
                <a:solidFill>
                  <a:schemeClr val="dk1"/>
                </a:solidFill>
              </a:rPr>
              <a:t>A compact wearable + ESP32 edge‑AI system that continuously fuses multi‑sensor vitals (heart rate, respiration, temperature, activity, glucose, etc) to deliver personalized insights and trigger emergency alerts in real time.</a:t>
            </a:r>
            <a:endParaRPr sz="1900">
              <a:solidFill>
                <a:schemeClr val="dk2"/>
              </a:solidFill>
            </a:endParaRPr>
          </a:p>
        </p:txBody>
      </p:sp>
      <p:sp>
        <p:nvSpPr>
          <p:cNvPr id="62" name="Google Shape;62;p14"/>
          <p:cNvSpPr txBox="1"/>
          <p:nvPr/>
        </p:nvSpPr>
        <p:spPr>
          <a:xfrm>
            <a:off x="703875" y="2423250"/>
            <a:ext cx="6311400" cy="238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a:solidFill>
                  <a:schemeClr val="dk1"/>
                </a:solidFill>
              </a:rPr>
              <a:t>Why (value &amp; impact)</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Relevance:</a:t>
            </a:r>
            <a:r>
              <a:rPr lang="en" sz="1200">
                <a:solidFill>
                  <a:schemeClr val="dk1"/>
                </a:solidFill>
              </a:rPr>
              <a:t> Chronic disease &amp; elder care need continuous, low‑cost monitoring outside clinics.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Social value:</a:t>
            </a:r>
            <a:r>
              <a:rPr lang="en" sz="1200">
                <a:solidFill>
                  <a:schemeClr val="dk1"/>
                </a:solidFill>
              </a:rPr>
              <a:t> Earlier detection of anomalies and safer independent living; peace of mind for families/caregivers.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Utility:</a:t>
            </a:r>
            <a:r>
              <a:rPr lang="en" sz="1200">
                <a:solidFill>
                  <a:schemeClr val="dk1"/>
                </a:solidFill>
              </a:rPr>
              <a:t> Actionable suggestions (hydration, rest, medication timing cues), trend tracking, and auto‑alert on falls/abnormal vitals.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Market potential:</a:t>
            </a:r>
            <a:r>
              <a:rPr lang="en" sz="1200">
                <a:solidFill>
                  <a:schemeClr val="dk1"/>
                </a:solidFill>
              </a:rPr>
              <a:t> Remote Patient Monitoring (RPM), wellness wearables, campus safety, and corporate wellness pilots.</a:t>
            </a:r>
            <a:endParaRPr sz="12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63" name="Google Shape;63;p14"/>
          <p:cNvSpPr txBox="1"/>
          <p:nvPr>
            <p:ph idx="4294967295" type="title"/>
          </p:nvPr>
        </p:nvSpPr>
        <p:spPr>
          <a:xfrm>
            <a:off x="230700" y="470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720"/>
              <a:t>1/4</a:t>
            </a:r>
            <a:endParaRPr sz="172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64800"/>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t>Integrated Sensors and Communication Modules</a:t>
            </a:r>
            <a:endParaRPr/>
          </a:p>
          <a:p>
            <a:pPr indent="0" lvl="0" marL="0" marR="0" rtl="0" algn="l">
              <a:lnSpc>
                <a:spcPct val="100000"/>
              </a:lnSpc>
              <a:spcBef>
                <a:spcPts val="0"/>
              </a:spcBef>
              <a:spcAft>
                <a:spcPts val="0"/>
              </a:spcAft>
              <a:buNone/>
            </a:pPr>
            <a:r>
              <a:t/>
            </a:r>
            <a:endParaRPr/>
          </a:p>
        </p:txBody>
      </p:sp>
      <p:sp>
        <p:nvSpPr>
          <p:cNvPr id="69" name="Google Shape;69;p15"/>
          <p:cNvSpPr txBox="1"/>
          <p:nvPr>
            <p:ph idx="1" type="body"/>
          </p:nvPr>
        </p:nvSpPr>
        <p:spPr>
          <a:xfrm>
            <a:off x="349250" y="1017725"/>
            <a:ext cx="3219900" cy="3990900"/>
          </a:xfrm>
          <a:prstGeom prst="rect">
            <a:avLst/>
          </a:prstGeom>
        </p:spPr>
        <p:txBody>
          <a:bodyPr anchorCtr="0" anchor="t" bIns="91425" lIns="91425" spcFirstLastPara="1" rIns="91425" wrap="square" tIns="91425">
            <a:noAutofit/>
          </a:bodyPr>
          <a:lstStyle/>
          <a:p>
            <a:pPr indent="0" lvl="0" marL="0" marR="0" rtl="0" algn="l">
              <a:lnSpc>
                <a:spcPct val="95000"/>
              </a:lnSpc>
              <a:spcBef>
                <a:spcPts val="0"/>
              </a:spcBef>
              <a:spcAft>
                <a:spcPts val="0"/>
              </a:spcAft>
              <a:buSzPts val="852"/>
              <a:buNone/>
            </a:pPr>
            <a:r>
              <a:rPr b="1" lang="en" sz="1700">
                <a:solidFill>
                  <a:schemeClr val="dk1"/>
                </a:solidFill>
                <a:latin typeface="Times New Roman"/>
                <a:ea typeface="Times New Roman"/>
                <a:cs typeface="Times New Roman"/>
                <a:sym typeface="Times New Roman"/>
              </a:rPr>
              <a:t>FSR402</a:t>
            </a:r>
            <a:endParaRPr b="1"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•Fast response, compact.</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•Pressure / force sensing.</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b="1" lang="en" sz="1700">
                <a:solidFill>
                  <a:schemeClr val="dk1"/>
                </a:solidFill>
                <a:latin typeface="Times New Roman"/>
                <a:ea typeface="Times New Roman"/>
                <a:cs typeface="Times New Roman"/>
                <a:sym typeface="Times New Roman"/>
              </a:rPr>
              <a:t>TMP117</a:t>
            </a:r>
            <a:endParaRPr b="1"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•Body / ambient temperature.</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•±0.1°C accuracy, I²C interface.</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b="1" lang="en" sz="1700">
                <a:solidFill>
                  <a:schemeClr val="dk1"/>
                </a:solidFill>
                <a:latin typeface="Times New Roman"/>
                <a:ea typeface="Times New Roman"/>
                <a:cs typeface="Times New Roman"/>
                <a:sym typeface="Times New Roman"/>
              </a:rPr>
              <a:t>MAX86150</a:t>
            </a:r>
            <a:endParaRPr b="1"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•Heart rate, SpO₂, ECG.</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•Integrated PPG+ECG, high SNR.</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b="1" lang="en" sz="1700">
                <a:solidFill>
                  <a:schemeClr val="dk1"/>
                </a:solidFill>
                <a:latin typeface="Times New Roman"/>
                <a:ea typeface="Times New Roman"/>
                <a:cs typeface="Times New Roman"/>
                <a:sym typeface="Times New Roman"/>
              </a:rPr>
              <a:t>ADXL345</a:t>
            </a:r>
            <a:endParaRPr b="1"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•Motion / posture / fall detection.</a:t>
            </a:r>
            <a:endParaRPr sz="1700">
              <a:solidFill>
                <a:schemeClr val="dk1"/>
              </a:solidFill>
              <a:latin typeface="Times New Roman"/>
              <a:ea typeface="Times New Roman"/>
              <a:cs typeface="Times New Roman"/>
              <a:sym typeface="Times New Roman"/>
            </a:endParaRPr>
          </a:p>
          <a:p>
            <a:pPr indent="0" lvl="0" marL="0" marR="0" rtl="0" algn="l">
              <a:lnSpc>
                <a:spcPct val="95000"/>
              </a:lnSpc>
              <a:spcBef>
                <a:spcPts val="0"/>
              </a:spcBef>
              <a:spcAft>
                <a:spcPts val="0"/>
              </a:spcAft>
              <a:buSzPts val="852"/>
              <a:buNone/>
            </a:pPr>
            <a:r>
              <a:rPr lang="en" sz="1700">
                <a:solidFill>
                  <a:schemeClr val="dk1"/>
                </a:solidFill>
                <a:latin typeface="Times New Roman"/>
                <a:ea typeface="Times New Roman"/>
                <a:cs typeface="Times New Roman"/>
                <a:sym typeface="Times New Roman"/>
              </a:rPr>
              <a:t>•3-axis, low power, high sensitivity.</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852"/>
              <a:buNone/>
            </a:pPr>
            <a:r>
              <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852"/>
              <a:buNone/>
            </a:pPr>
            <a:r>
              <a:t/>
            </a:r>
            <a:endParaRPr b="1" sz="1700">
              <a:solidFill>
                <a:schemeClr val="dk1"/>
              </a:solidFill>
              <a:latin typeface="Times New Roman"/>
              <a:ea typeface="Times New Roman"/>
              <a:cs typeface="Times New Roman"/>
              <a:sym typeface="Times New Roman"/>
            </a:endParaRPr>
          </a:p>
          <a:p>
            <a:pPr indent="0" lvl="0" marL="0" rtl="0" algn="l">
              <a:lnSpc>
                <a:spcPct val="170909"/>
              </a:lnSpc>
              <a:spcBef>
                <a:spcPts val="0"/>
              </a:spcBef>
              <a:spcAft>
                <a:spcPts val="1200"/>
              </a:spcAft>
              <a:buSzPts val="852"/>
              <a:buNone/>
            </a:pPr>
            <a:r>
              <a:t/>
            </a:r>
            <a:endParaRPr b="1" sz="1700">
              <a:solidFill>
                <a:schemeClr val="dk1"/>
              </a:solidFill>
              <a:latin typeface="Times New Roman"/>
              <a:ea typeface="Times New Roman"/>
              <a:cs typeface="Times New Roman"/>
              <a:sym typeface="Times New Roman"/>
            </a:endParaRPr>
          </a:p>
        </p:txBody>
      </p:sp>
      <p:sp>
        <p:nvSpPr>
          <p:cNvPr id="70" name="Google Shape;70;p15"/>
          <p:cNvSpPr txBox="1"/>
          <p:nvPr>
            <p:ph idx="1" type="body"/>
          </p:nvPr>
        </p:nvSpPr>
        <p:spPr>
          <a:xfrm>
            <a:off x="4992225" y="970925"/>
            <a:ext cx="3219900" cy="2546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852"/>
              <a:buFont typeface="Arial"/>
              <a:buNone/>
            </a:pPr>
            <a:r>
              <a:rPr b="1" lang="en" sz="1700">
                <a:solidFill>
                  <a:schemeClr val="dk1"/>
                </a:solidFill>
                <a:latin typeface="Times New Roman"/>
                <a:ea typeface="Times New Roman"/>
                <a:cs typeface="Times New Roman"/>
                <a:sym typeface="Times New Roman"/>
              </a:rPr>
              <a:t>Wi-Fi</a:t>
            </a:r>
            <a:endParaRPr b="1"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Clr>
                <a:schemeClr val="dk1"/>
              </a:buClr>
              <a:buSzPts val="852"/>
              <a:buFont typeface="Arial"/>
              <a:buNone/>
            </a:pPr>
            <a:r>
              <a:rPr lang="en" sz="1700">
                <a:solidFill>
                  <a:schemeClr val="dk1"/>
                </a:solidFill>
              </a:rPr>
              <a:t>•</a:t>
            </a:r>
            <a:r>
              <a:rPr lang="en" sz="1700">
                <a:solidFill>
                  <a:schemeClr val="dk1"/>
                </a:solidFill>
                <a:latin typeface="Times New Roman"/>
                <a:ea typeface="Times New Roman"/>
                <a:cs typeface="Times New Roman"/>
                <a:sym typeface="Times New Roman"/>
              </a:rPr>
              <a:t>Cloud connectivity.</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Clr>
                <a:schemeClr val="dk1"/>
              </a:buClr>
              <a:buSzPts val="852"/>
              <a:buFont typeface="Arial"/>
              <a:buNone/>
            </a:pPr>
            <a:r>
              <a:rPr lang="en" sz="1700">
                <a:solidFill>
                  <a:schemeClr val="dk1"/>
                </a:solidFill>
              </a:rPr>
              <a:t>•</a:t>
            </a:r>
            <a:r>
              <a:rPr lang="en" sz="1700">
                <a:solidFill>
                  <a:schemeClr val="dk1"/>
                </a:solidFill>
                <a:latin typeface="Times New Roman"/>
                <a:ea typeface="Times New Roman"/>
                <a:cs typeface="Times New Roman"/>
                <a:sym typeface="Times New Roman"/>
              </a:rPr>
              <a:t>High speed.</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Bluetooth</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rPr>
              <a:t>•</a:t>
            </a:r>
            <a:r>
              <a:rPr lang="en" sz="1700">
                <a:solidFill>
                  <a:schemeClr val="dk1"/>
                </a:solidFill>
                <a:latin typeface="Times New Roman"/>
                <a:ea typeface="Times New Roman"/>
                <a:cs typeface="Times New Roman"/>
                <a:sym typeface="Times New Roman"/>
              </a:rPr>
              <a:t>Short-range wireless link.</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rPr>
              <a:t>•</a:t>
            </a:r>
            <a:r>
              <a:rPr lang="en" sz="1700">
                <a:solidFill>
                  <a:schemeClr val="dk1"/>
                </a:solidFill>
                <a:latin typeface="Times New Roman"/>
                <a:ea typeface="Times New Roman"/>
                <a:cs typeface="Times New Roman"/>
                <a:sym typeface="Times New Roman"/>
              </a:rPr>
              <a:t>Low energy, real-time data.</a:t>
            </a:r>
            <a:endParaRPr sz="1700">
              <a:solidFill>
                <a:schemeClr val="dk1"/>
              </a:solidFill>
              <a:latin typeface="Times New Roman"/>
              <a:ea typeface="Times New Roman"/>
              <a:cs typeface="Times New Roman"/>
              <a:sym typeface="Times New Roman"/>
            </a:endParaRPr>
          </a:p>
          <a:p>
            <a:pPr indent="0" lvl="0" marL="0" rtl="0" algn="l">
              <a:lnSpc>
                <a:spcPct val="170909"/>
              </a:lnSpc>
              <a:spcBef>
                <a:spcPts val="0"/>
              </a:spcBef>
              <a:spcAft>
                <a:spcPts val="1200"/>
              </a:spcAft>
              <a:buSzPts val="852"/>
              <a:buNone/>
            </a:pPr>
            <a:r>
              <a:t/>
            </a:r>
            <a:endParaRPr b="1" sz="1700">
              <a:solidFill>
                <a:schemeClr val="dk1"/>
              </a:solidFill>
              <a:latin typeface="Times New Roman"/>
              <a:ea typeface="Times New Roman"/>
              <a:cs typeface="Times New Roman"/>
              <a:sym typeface="Times New Roman"/>
            </a:endParaRPr>
          </a:p>
        </p:txBody>
      </p:sp>
      <p:pic>
        <p:nvPicPr>
          <p:cNvPr id="71" name="Google Shape;71;p15"/>
          <p:cNvPicPr preferRelativeResize="0"/>
          <p:nvPr/>
        </p:nvPicPr>
        <p:blipFill>
          <a:blip r:embed="rId3">
            <a:alphaModFix/>
          </a:blip>
          <a:stretch>
            <a:fillRect/>
          </a:stretch>
        </p:blipFill>
        <p:spPr>
          <a:xfrm>
            <a:off x="3569144" y="1875807"/>
            <a:ext cx="1198350" cy="509175"/>
          </a:xfrm>
          <a:prstGeom prst="rect">
            <a:avLst/>
          </a:prstGeom>
          <a:noFill/>
          <a:ln>
            <a:noFill/>
          </a:ln>
        </p:spPr>
      </p:pic>
      <p:pic>
        <p:nvPicPr>
          <p:cNvPr id="72" name="Google Shape;72;p15"/>
          <p:cNvPicPr preferRelativeResize="0"/>
          <p:nvPr/>
        </p:nvPicPr>
        <p:blipFill>
          <a:blip r:embed="rId4">
            <a:alphaModFix/>
          </a:blip>
          <a:stretch>
            <a:fillRect/>
          </a:stretch>
        </p:blipFill>
        <p:spPr>
          <a:xfrm>
            <a:off x="3674049" y="1311024"/>
            <a:ext cx="536948" cy="509175"/>
          </a:xfrm>
          <a:prstGeom prst="rect">
            <a:avLst/>
          </a:prstGeom>
          <a:noFill/>
          <a:ln>
            <a:noFill/>
          </a:ln>
        </p:spPr>
      </p:pic>
      <p:pic>
        <p:nvPicPr>
          <p:cNvPr id="73" name="Google Shape;73;p15"/>
          <p:cNvPicPr preferRelativeResize="0"/>
          <p:nvPr/>
        </p:nvPicPr>
        <p:blipFill>
          <a:blip r:embed="rId5">
            <a:alphaModFix/>
          </a:blip>
          <a:stretch>
            <a:fillRect/>
          </a:stretch>
        </p:blipFill>
        <p:spPr>
          <a:xfrm>
            <a:off x="3674050" y="2451425"/>
            <a:ext cx="717600" cy="572700"/>
          </a:xfrm>
          <a:prstGeom prst="rect">
            <a:avLst/>
          </a:prstGeom>
          <a:noFill/>
          <a:ln>
            <a:noFill/>
          </a:ln>
        </p:spPr>
      </p:pic>
      <p:pic>
        <p:nvPicPr>
          <p:cNvPr id="74" name="Google Shape;74;p15"/>
          <p:cNvPicPr preferRelativeResize="0"/>
          <p:nvPr/>
        </p:nvPicPr>
        <p:blipFill>
          <a:blip r:embed="rId6">
            <a:alphaModFix/>
          </a:blip>
          <a:stretch>
            <a:fillRect/>
          </a:stretch>
        </p:blipFill>
        <p:spPr>
          <a:xfrm>
            <a:off x="3524731" y="3150650"/>
            <a:ext cx="955125" cy="743400"/>
          </a:xfrm>
          <a:prstGeom prst="rect">
            <a:avLst/>
          </a:prstGeom>
          <a:noFill/>
          <a:ln>
            <a:noFill/>
          </a:ln>
        </p:spPr>
      </p:pic>
      <p:pic>
        <p:nvPicPr>
          <p:cNvPr id="75" name="Google Shape;75;p15"/>
          <p:cNvPicPr preferRelativeResize="0"/>
          <p:nvPr/>
        </p:nvPicPr>
        <p:blipFill>
          <a:blip r:embed="rId7">
            <a:alphaModFix/>
          </a:blip>
          <a:stretch>
            <a:fillRect/>
          </a:stretch>
        </p:blipFill>
        <p:spPr>
          <a:xfrm>
            <a:off x="4767500" y="3517625"/>
            <a:ext cx="3331950" cy="1265750"/>
          </a:xfrm>
          <a:prstGeom prst="rect">
            <a:avLst/>
          </a:prstGeom>
          <a:noFill/>
          <a:ln>
            <a:noFill/>
          </a:ln>
        </p:spPr>
      </p:pic>
      <p:pic>
        <p:nvPicPr>
          <p:cNvPr id="76" name="Google Shape;76;p15"/>
          <p:cNvPicPr preferRelativeResize="0"/>
          <p:nvPr/>
        </p:nvPicPr>
        <p:blipFill>
          <a:blip r:embed="rId8">
            <a:alphaModFix/>
          </a:blip>
          <a:stretch>
            <a:fillRect/>
          </a:stretch>
        </p:blipFill>
        <p:spPr>
          <a:xfrm>
            <a:off x="7730773" y="1250723"/>
            <a:ext cx="639025" cy="366775"/>
          </a:xfrm>
          <a:prstGeom prst="rect">
            <a:avLst/>
          </a:prstGeom>
          <a:noFill/>
          <a:ln>
            <a:noFill/>
          </a:ln>
        </p:spPr>
      </p:pic>
      <p:pic>
        <p:nvPicPr>
          <p:cNvPr id="77" name="Google Shape;77;p15"/>
          <p:cNvPicPr preferRelativeResize="0"/>
          <p:nvPr/>
        </p:nvPicPr>
        <p:blipFill>
          <a:blip r:embed="rId9">
            <a:alphaModFix/>
          </a:blip>
          <a:stretch>
            <a:fillRect/>
          </a:stretch>
        </p:blipFill>
        <p:spPr>
          <a:xfrm>
            <a:off x="7775825" y="2224766"/>
            <a:ext cx="717600" cy="527896"/>
          </a:xfrm>
          <a:prstGeom prst="rect">
            <a:avLst/>
          </a:prstGeom>
          <a:noFill/>
          <a:ln>
            <a:noFill/>
          </a:ln>
        </p:spPr>
      </p:pic>
      <p:sp>
        <p:nvSpPr>
          <p:cNvPr id="78" name="Google Shape;78;p15"/>
          <p:cNvSpPr txBox="1"/>
          <p:nvPr>
            <p:ph type="title"/>
          </p:nvPr>
        </p:nvSpPr>
        <p:spPr>
          <a:xfrm>
            <a:off x="230700" y="470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720"/>
              <a:t>2</a:t>
            </a:r>
            <a:r>
              <a:rPr lang="en" sz="1720"/>
              <a:t>/4</a:t>
            </a:r>
            <a:endParaRPr sz="17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102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 + Technical Components</a:t>
            </a:r>
            <a:endParaRPr/>
          </a:p>
        </p:txBody>
      </p:sp>
      <p:sp>
        <p:nvSpPr>
          <p:cNvPr id="84" name="Google Shape;84;p16"/>
          <p:cNvSpPr txBox="1"/>
          <p:nvPr>
            <p:ph idx="1" type="body"/>
          </p:nvPr>
        </p:nvSpPr>
        <p:spPr>
          <a:xfrm>
            <a:off x="311700" y="764225"/>
            <a:ext cx="4397400" cy="4141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sz="2557">
                <a:solidFill>
                  <a:schemeClr val="dk1"/>
                </a:solidFill>
                <a:highlight>
                  <a:schemeClr val="accent6"/>
                </a:highlight>
              </a:rPr>
              <a:t>Embedded Systems Components :</a:t>
            </a:r>
            <a:endParaRPr b="1" sz="2557">
              <a:solidFill>
                <a:schemeClr val="dk1"/>
              </a:solidFill>
              <a:highlight>
                <a:schemeClr val="accent6"/>
              </a:highlight>
            </a:endParaRPr>
          </a:p>
          <a:p>
            <a:pPr indent="-342264" lvl="0" marL="457200" rtl="0" algn="l">
              <a:lnSpc>
                <a:spcPct val="95000"/>
              </a:lnSpc>
              <a:spcBef>
                <a:spcPts val="1200"/>
              </a:spcBef>
              <a:spcAft>
                <a:spcPts val="0"/>
              </a:spcAft>
              <a:buClr>
                <a:schemeClr val="dk1"/>
              </a:buClr>
              <a:buSzPct val="100000"/>
              <a:buChar char="●"/>
            </a:pPr>
            <a:r>
              <a:rPr b="1" lang="en" sz="2557">
                <a:solidFill>
                  <a:schemeClr val="dk1"/>
                </a:solidFill>
                <a:latin typeface="Times New Roman"/>
                <a:ea typeface="Times New Roman"/>
                <a:cs typeface="Times New Roman"/>
                <a:sym typeface="Times New Roman"/>
              </a:rPr>
              <a:t>FSR402($7)</a:t>
            </a:r>
            <a:endParaRPr b="1" sz="2557">
              <a:solidFill>
                <a:schemeClr val="dk1"/>
              </a:solidFill>
              <a:latin typeface="Times New Roman"/>
              <a:ea typeface="Times New Roman"/>
              <a:cs typeface="Times New Roman"/>
              <a:sym typeface="Times New Roman"/>
            </a:endParaRPr>
          </a:p>
          <a:p>
            <a:pPr indent="-342264" lvl="0" marL="457200" rtl="0" algn="l">
              <a:lnSpc>
                <a:spcPct val="95000"/>
              </a:lnSpc>
              <a:spcBef>
                <a:spcPts val="0"/>
              </a:spcBef>
              <a:spcAft>
                <a:spcPts val="0"/>
              </a:spcAft>
              <a:buClr>
                <a:schemeClr val="dk1"/>
              </a:buClr>
              <a:buSzPct val="100000"/>
              <a:buFont typeface="Times New Roman"/>
              <a:buChar char="●"/>
            </a:pPr>
            <a:r>
              <a:rPr b="1" lang="en" sz="2557">
                <a:solidFill>
                  <a:schemeClr val="dk1"/>
                </a:solidFill>
                <a:latin typeface="Times New Roman"/>
                <a:ea typeface="Times New Roman"/>
                <a:cs typeface="Times New Roman"/>
                <a:sym typeface="Times New Roman"/>
              </a:rPr>
              <a:t>TMP117($17)</a:t>
            </a:r>
            <a:endParaRPr b="1" sz="2557">
              <a:solidFill>
                <a:schemeClr val="dk1"/>
              </a:solidFill>
              <a:latin typeface="Times New Roman"/>
              <a:ea typeface="Times New Roman"/>
              <a:cs typeface="Times New Roman"/>
              <a:sym typeface="Times New Roman"/>
            </a:endParaRPr>
          </a:p>
          <a:p>
            <a:pPr indent="-342264" lvl="0" marL="457200" rtl="0" algn="l">
              <a:lnSpc>
                <a:spcPct val="95000"/>
              </a:lnSpc>
              <a:spcBef>
                <a:spcPts val="0"/>
              </a:spcBef>
              <a:spcAft>
                <a:spcPts val="0"/>
              </a:spcAft>
              <a:buClr>
                <a:schemeClr val="dk1"/>
              </a:buClr>
              <a:buSzPct val="100000"/>
              <a:buFont typeface="Times New Roman"/>
              <a:buChar char="●"/>
            </a:pPr>
            <a:r>
              <a:rPr b="1" lang="en" sz="2557">
                <a:solidFill>
                  <a:schemeClr val="dk1"/>
                </a:solidFill>
                <a:latin typeface="Times New Roman"/>
                <a:ea typeface="Times New Roman"/>
                <a:cs typeface="Times New Roman"/>
                <a:sym typeface="Times New Roman"/>
              </a:rPr>
              <a:t>MAX86150($125)</a:t>
            </a:r>
            <a:endParaRPr b="1" sz="2557">
              <a:solidFill>
                <a:schemeClr val="dk1"/>
              </a:solidFill>
              <a:latin typeface="Times New Roman"/>
              <a:ea typeface="Times New Roman"/>
              <a:cs typeface="Times New Roman"/>
              <a:sym typeface="Times New Roman"/>
            </a:endParaRPr>
          </a:p>
          <a:p>
            <a:pPr indent="-342264" lvl="0" marL="457200" rtl="0" algn="l">
              <a:lnSpc>
                <a:spcPct val="95000"/>
              </a:lnSpc>
              <a:spcBef>
                <a:spcPts val="0"/>
              </a:spcBef>
              <a:spcAft>
                <a:spcPts val="0"/>
              </a:spcAft>
              <a:buClr>
                <a:schemeClr val="dk1"/>
              </a:buClr>
              <a:buSzPct val="100000"/>
              <a:buFont typeface="Times New Roman"/>
              <a:buChar char="●"/>
            </a:pPr>
            <a:r>
              <a:rPr b="1" lang="en" sz="2557">
                <a:solidFill>
                  <a:schemeClr val="dk1"/>
                </a:solidFill>
                <a:latin typeface="Times New Roman"/>
                <a:ea typeface="Times New Roman"/>
                <a:cs typeface="Times New Roman"/>
                <a:sym typeface="Times New Roman"/>
              </a:rPr>
              <a:t>ADXL345</a:t>
            </a:r>
            <a:endParaRPr b="1" sz="2557">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None/>
            </a:pPr>
            <a:r>
              <a:t/>
            </a:r>
            <a:endParaRPr b="1" sz="2557">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None/>
            </a:pPr>
            <a:r>
              <a:rPr b="1" lang="en" sz="2557">
                <a:solidFill>
                  <a:schemeClr val="dk1"/>
                </a:solidFill>
                <a:highlight>
                  <a:schemeClr val="accent6"/>
                </a:highlight>
              </a:rPr>
              <a:t>Backend &amp; Data Components:</a:t>
            </a:r>
            <a:endParaRPr b="1" sz="2557">
              <a:solidFill>
                <a:schemeClr val="dk1"/>
              </a:solidFill>
              <a:highlight>
                <a:schemeClr val="accent6"/>
              </a:highlight>
            </a:endParaRPr>
          </a:p>
          <a:p>
            <a:pPr indent="0" lvl="0" marL="0" rtl="0" algn="l">
              <a:lnSpc>
                <a:spcPct val="95000"/>
              </a:lnSpc>
              <a:spcBef>
                <a:spcPts val="0"/>
              </a:spcBef>
              <a:spcAft>
                <a:spcPts val="0"/>
              </a:spcAft>
              <a:buNone/>
            </a:pPr>
            <a:r>
              <a:t/>
            </a:r>
            <a:endParaRPr sz="2557">
              <a:solidFill>
                <a:schemeClr val="dk1"/>
              </a:solidFill>
            </a:endParaRPr>
          </a:p>
          <a:p>
            <a:pPr indent="-342264" lvl="0" marL="457200" rtl="0" algn="l">
              <a:lnSpc>
                <a:spcPct val="95000"/>
              </a:lnSpc>
              <a:spcBef>
                <a:spcPts val="0"/>
              </a:spcBef>
              <a:spcAft>
                <a:spcPts val="0"/>
              </a:spcAft>
              <a:buClr>
                <a:schemeClr val="dk1"/>
              </a:buClr>
              <a:buSzPct val="100000"/>
              <a:buChar char="●"/>
            </a:pPr>
            <a:r>
              <a:rPr b="1" lang="en" sz="2557">
                <a:solidFill>
                  <a:schemeClr val="dk1"/>
                </a:solidFill>
              </a:rPr>
              <a:t>Cloud Servers(GCP, AWS)</a:t>
            </a:r>
            <a:endParaRPr b="1" sz="2557">
              <a:solidFill>
                <a:schemeClr val="dk1"/>
              </a:solidFill>
            </a:endParaRPr>
          </a:p>
          <a:p>
            <a:pPr indent="-342264" lvl="0" marL="457200" rtl="0" algn="l">
              <a:lnSpc>
                <a:spcPct val="95000"/>
              </a:lnSpc>
              <a:spcBef>
                <a:spcPts val="0"/>
              </a:spcBef>
              <a:spcAft>
                <a:spcPts val="0"/>
              </a:spcAft>
              <a:buClr>
                <a:schemeClr val="dk1"/>
              </a:buClr>
              <a:buSzPct val="100000"/>
              <a:buChar char="●"/>
            </a:pPr>
            <a:r>
              <a:rPr b="1" lang="en" sz="2557">
                <a:solidFill>
                  <a:schemeClr val="dk1"/>
                </a:solidFill>
              </a:rPr>
              <a:t>Socket</a:t>
            </a:r>
            <a:endParaRPr sz="2557">
              <a:solidFill>
                <a:schemeClr val="dk1"/>
              </a:solidFill>
            </a:endParaRPr>
          </a:p>
          <a:p>
            <a:pPr indent="-342264" lvl="0" marL="457200" rtl="0" algn="l">
              <a:lnSpc>
                <a:spcPct val="95000"/>
              </a:lnSpc>
              <a:spcBef>
                <a:spcPts val="0"/>
              </a:spcBef>
              <a:spcAft>
                <a:spcPts val="0"/>
              </a:spcAft>
              <a:buClr>
                <a:schemeClr val="dk1"/>
              </a:buClr>
              <a:buSzPct val="100000"/>
              <a:buChar char="●"/>
            </a:pPr>
            <a:r>
              <a:rPr b="1" lang="en" sz="2557">
                <a:solidFill>
                  <a:schemeClr val="dk1"/>
                </a:solidFill>
              </a:rPr>
              <a:t>LLMs via API</a:t>
            </a:r>
            <a:endParaRPr b="1" sz="2557">
              <a:solidFill>
                <a:schemeClr val="dk1"/>
              </a:solidFill>
            </a:endParaRPr>
          </a:p>
          <a:p>
            <a:pPr indent="-342264" lvl="0" marL="457200" rtl="0" algn="l">
              <a:lnSpc>
                <a:spcPct val="95000"/>
              </a:lnSpc>
              <a:spcBef>
                <a:spcPts val="0"/>
              </a:spcBef>
              <a:spcAft>
                <a:spcPts val="0"/>
              </a:spcAft>
              <a:buClr>
                <a:schemeClr val="dk1"/>
              </a:buClr>
              <a:buSzPct val="100000"/>
              <a:buChar char="●"/>
            </a:pPr>
            <a:r>
              <a:rPr b="1" lang="en" sz="2557">
                <a:solidFill>
                  <a:schemeClr val="dk1"/>
                </a:solidFill>
              </a:rPr>
              <a:t>Emergency notifications </a:t>
            </a:r>
            <a:endParaRPr sz="2557">
              <a:solidFill>
                <a:schemeClr val="dk1"/>
              </a:solidFill>
            </a:endParaRPr>
          </a:p>
          <a:p>
            <a:pPr indent="-368913" lvl="0" marL="457200" rtl="0" algn="l">
              <a:lnSpc>
                <a:spcPct val="95000"/>
              </a:lnSpc>
              <a:spcBef>
                <a:spcPts val="0"/>
              </a:spcBef>
              <a:spcAft>
                <a:spcPts val="0"/>
              </a:spcAft>
              <a:buClr>
                <a:schemeClr val="dk1"/>
              </a:buClr>
              <a:buSzPct val="123444"/>
              <a:buChar char="●"/>
            </a:pPr>
            <a:r>
              <a:rPr b="1" lang="en" sz="2557">
                <a:solidFill>
                  <a:schemeClr val="dk1"/>
                </a:solidFill>
              </a:rPr>
              <a:t>Web UI &amp; Mobile App</a:t>
            </a:r>
            <a:r>
              <a:rPr b="1" lang="en" sz="3156">
                <a:solidFill>
                  <a:schemeClr val="dk1"/>
                </a:solidFill>
              </a:rPr>
              <a:t> </a:t>
            </a:r>
            <a:endParaRPr sz="2452">
              <a:solidFill>
                <a:schemeClr val="dk1"/>
              </a:solidFill>
            </a:endParaRPr>
          </a:p>
          <a:p>
            <a:pPr indent="0" lvl="0" marL="0" rtl="0" algn="l">
              <a:lnSpc>
                <a:spcPct val="95000"/>
              </a:lnSpc>
              <a:spcBef>
                <a:spcPts val="0"/>
              </a:spcBef>
              <a:spcAft>
                <a:spcPts val="0"/>
              </a:spcAft>
              <a:buNone/>
            </a:pPr>
            <a:r>
              <a:t/>
            </a:r>
            <a:endParaRPr sz="1418">
              <a:solidFill>
                <a:schemeClr val="dk1"/>
              </a:solidFill>
            </a:endParaRPr>
          </a:p>
          <a:p>
            <a:pPr indent="0" lvl="0" marL="0" rtl="0" algn="l">
              <a:lnSpc>
                <a:spcPct val="95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None/>
            </a:pPr>
            <a:r>
              <a:t/>
            </a:r>
            <a:endParaRPr b="1" sz="17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None/>
            </a:pPr>
            <a:r>
              <a:t/>
            </a:r>
            <a:endParaRPr b="1" sz="1700">
              <a:solidFill>
                <a:schemeClr val="dk1"/>
              </a:solidFill>
              <a:latin typeface="Times New Roman"/>
              <a:ea typeface="Times New Roman"/>
              <a:cs typeface="Times New Roman"/>
              <a:sym typeface="Times New Roman"/>
            </a:endParaRPr>
          </a:p>
        </p:txBody>
      </p:sp>
      <p:sp>
        <p:nvSpPr>
          <p:cNvPr id="85" name="Google Shape;85;p16"/>
          <p:cNvSpPr txBox="1"/>
          <p:nvPr/>
        </p:nvSpPr>
        <p:spPr>
          <a:xfrm>
            <a:off x="4217100" y="674825"/>
            <a:ext cx="4926900" cy="43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highlight>
                  <a:schemeClr val="accent6"/>
                </a:highlight>
              </a:rPr>
              <a:t>Workflow</a:t>
            </a:r>
            <a:r>
              <a:rPr b="1" lang="en" sz="1600">
                <a:solidFill>
                  <a:schemeClr val="dk1"/>
                </a:solidFill>
                <a:highlight>
                  <a:schemeClr val="accent6"/>
                </a:highlight>
              </a:rPr>
              <a:t> Pipeline:</a:t>
            </a:r>
            <a:endParaRPr b="1" sz="1600">
              <a:solidFill>
                <a:schemeClr val="dk1"/>
              </a:solidFill>
              <a:highlight>
                <a:schemeClr val="accent6"/>
              </a:highlight>
            </a:endParaRPr>
          </a:p>
          <a:p>
            <a:pPr indent="-330440" lvl="0" marL="457200" rtl="0" algn="l">
              <a:lnSpc>
                <a:spcPct val="95000"/>
              </a:lnSpc>
              <a:spcBef>
                <a:spcPts val="0"/>
              </a:spcBef>
              <a:spcAft>
                <a:spcPts val="0"/>
              </a:spcAft>
              <a:buClr>
                <a:schemeClr val="dk1"/>
              </a:buClr>
              <a:buSzPts val="1604"/>
              <a:buChar char="●"/>
            </a:pPr>
            <a:r>
              <a:rPr lang="en" sz="1603">
                <a:solidFill>
                  <a:schemeClr val="dk1"/>
                </a:solidFill>
              </a:rPr>
              <a:t>Data from embedded systems will be sent to </a:t>
            </a:r>
            <a:r>
              <a:rPr b="1" lang="en" sz="1603">
                <a:solidFill>
                  <a:schemeClr val="dk1"/>
                </a:solidFill>
              </a:rPr>
              <a:t>Cloud Servers(GCP, AWS)</a:t>
            </a:r>
            <a:endParaRPr b="1" sz="1603">
              <a:solidFill>
                <a:schemeClr val="dk1"/>
              </a:solidFill>
            </a:endParaRPr>
          </a:p>
          <a:p>
            <a:pPr indent="-330440" lvl="0" marL="457200" rtl="0" algn="l">
              <a:lnSpc>
                <a:spcPct val="95000"/>
              </a:lnSpc>
              <a:spcBef>
                <a:spcPts val="0"/>
              </a:spcBef>
              <a:spcAft>
                <a:spcPts val="0"/>
              </a:spcAft>
              <a:buClr>
                <a:schemeClr val="dk1"/>
              </a:buClr>
              <a:buSzPts val="1604"/>
              <a:buChar char="●"/>
            </a:pPr>
            <a:r>
              <a:rPr lang="en" sz="1603">
                <a:solidFill>
                  <a:schemeClr val="dk1"/>
                </a:solidFill>
              </a:rPr>
              <a:t>A </a:t>
            </a:r>
            <a:r>
              <a:rPr b="1" lang="en" sz="1603">
                <a:solidFill>
                  <a:schemeClr val="dk1"/>
                </a:solidFill>
              </a:rPr>
              <a:t>Socket </a:t>
            </a:r>
            <a:r>
              <a:rPr lang="en" sz="1603">
                <a:solidFill>
                  <a:schemeClr val="dk1"/>
                </a:solidFill>
              </a:rPr>
              <a:t>will be used to facilitate data storage and data processing, which we plan to do with a Python script that will do feature extraction, normalization, etc.  </a:t>
            </a:r>
            <a:endParaRPr sz="1603">
              <a:solidFill>
                <a:schemeClr val="dk1"/>
              </a:solidFill>
            </a:endParaRPr>
          </a:p>
          <a:p>
            <a:pPr indent="-330440" lvl="0" marL="457200" rtl="0" algn="l">
              <a:lnSpc>
                <a:spcPct val="95000"/>
              </a:lnSpc>
              <a:spcBef>
                <a:spcPts val="0"/>
              </a:spcBef>
              <a:spcAft>
                <a:spcPts val="0"/>
              </a:spcAft>
              <a:buClr>
                <a:schemeClr val="dk1"/>
              </a:buClr>
              <a:buSzPts val="1604"/>
              <a:buChar char="●"/>
            </a:pPr>
            <a:r>
              <a:rPr lang="en" sz="1603">
                <a:solidFill>
                  <a:schemeClr val="dk1"/>
                </a:solidFill>
              </a:rPr>
              <a:t>An </a:t>
            </a:r>
            <a:r>
              <a:rPr b="1" lang="en" sz="1603">
                <a:solidFill>
                  <a:schemeClr val="dk1"/>
                </a:solidFill>
              </a:rPr>
              <a:t>LLM</a:t>
            </a:r>
            <a:r>
              <a:rPr lang="en" sz="1603">
                <a:solidFill>
                  <a:schemeClr val="dk1"/>
                </a:solidFill>
              </a:rPr>
              <a:t> will pull the processed data via an API, and do report generation. </a:t>
            </a:r>
            <a:endParaRPr sz="1603">
              <a:solidFill>
                <a:schemeClr val="dk1"/>
              </a:solidFill>
            </a:endParaRPr>
          </a:p>
          <a:p>
            <a:pPr indent="-330440" lvl="0" marL="457200" rtl="0" algn="l">
              <a:lnSpc>
                <a:spcPct val="95000"/>
              </a:lnSpc>
              <a:spcBef>
                <a:spcPts val="0"/>
              </a:spcBef>
              <a:spcAft>
                <a:spcPts val="0"/>
              </a:spcAft>
              <a:buClr>
                <a:schemeClr val="dk1"/>
              </a:buClr>
              <a:buSzPts val="1604"/>
              <a:buChar char="●"/>
            </a:pPr>
            <a:r>
              <a:rPr lang="en" sz="1603">
                <a:solidFill>
                  <a:schemeClr val="dk1"/>
                </a:solidFill>
              </a:rPr>
              <a:t>For abnormal, serious detections, </a:t>
            </a:r>
            <a:r>
              <a:rPr b="1" lang="en" sz="1603">
                <a:solidFill>
                  <a:schemeClr val="dk1"/>
                </a:solidFill>
              </a:rPr>
              <a:t>emergency notifications </a:t>
            </a:r>
            <a:r>
              <a:rPr lang="en" sz="1603">
                <a:solidFill>
                  <a:schemeClr val="dk1"/>
                </a:solidFill>
              </a:rPr>
              <a:t>will be sent to the appropriate person(emergency contact, 911) immediately.</a:t>
            </a:r>
            <a:endParaRPr sz="1603">
              <a:solidFill>
                <a:schemeClr val="dk1"/>
              </a:solidFill>
            </a:endParaRPr>
          </a:p>
          <a:p>
            <a:pPr indent="-330440" lvl="0" marL="457200" rtl="0" algn="l">
              <a:lnSpc>
                <a:spcPct val="95000"/>
              </a:lnSpc>
              <a:spcBef>
                <a:spcPts val="0"/>
              </a:spcBef>
              <a:spcAft>
                <a:spcPts val="0"/>
              </a:spcAft>
              <a:buClr>
                <a:schemeClr val="dk1"/>
              </a:buClr>
              <a:buSzPts val="1604"/>
              <a:buChar char="●"/>
            </a:pPr>
            <a:r>
              <a:rPr lang="en" sz="1603">
                <a:solidFill>
                  <a:schemeClr val="dk1"/>
                </a:solidFill>
              </a:rPr>
              <a:t>On the User End, the report from the LLM, and other key metrics from the embedded systems, will be available to them. There will be a </a:t>
            </a:r>
            <a:r>
              <a:rPr b="1" lang="en" sz="1603">
                <a:solidFill>
                  <a:schemeClr val="dk1"/>
                </a:solidFill>
              </a:rPr>
              <a:t>Web UI</a:t>
            </a:r>
            <a:r>
              <a:rPr lang="en" sz="1603">
                <a:solidFill>
                  <a:schemeClr val="dk1"/>
                </a:solidFill>
              </a:rPr>
              <a:t> for important information and notifications to be displayed &amp; a </a:t>
            </a:r>
            <a:r>
              <a:rPr b="1" lang="en" sz="1603">
                <a:solidFill>
                  <a:schemeClr val="dk1"/>
                </a:solidFill>
              </a:rPr>
              <a:t>Mobile App </a:t>
            </a:r>
            <a:r>
              <a:rPr lang="en" sz="1603">
                <a:solidFill>
                  <a:schemeClr val="dk1"/>
                </a:solidFill>
              </a:rPr>
              <a:t>component for them to visualize and interact with their data.  </a:t>
            </a:r>
            <a:endParaRPr sz="9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900">
              <a:solidFill>
                <a:schemeClr val="dk1"/>
              </a:solidFill>
            </a:endParaRPr>
          </a:p>
        </p:txBody>
      </p:sp>
      <p:sp>
        <p:nvSpPr>
          <p:cNvPr id="86" name="Google Shape;86;p16"/>
          <p:cNvSpPr txBox="1"/>
          <p:nvPr>
            <p:ph type="title"/>
          </p:nvPr>
        </p:nvSpPr>
        <p:spPr>
          <a:xfrm>
            <a:off x="230700" y="470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720"/>
              <a:t>3</a:t>
            </a:r>
            <a:r>
              <a:rPr lang="en" sz="1720"/>
              <a:t>/4</a:t>
            </a:r>
            <a:endParaRPr sz="17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 Diagram</a:t>
            </a:r>
            <a:endParaRPr/>
          </a:p>
        </p:txBody>
      </p:sp>
      <p:pic>
        <p:nvPicPr>
          <p:cNvPr id="92" name="Google Shape;92;p17"/>
          <p:cNvPicPr preferRelativeResize="0"/>
          <p:nvPr/>
        </p:nvPicPr>
        <p:blipFill>
          <a:blip r:embed="rId3">
            <a:alphaModFix/>
          </a:blip>
          <a:stretch>
            <a:fillRect/>
          </a:stretch>
        </p:blipFill>
        <p:spPr>
          <a:xfrm>
            <a:off x="2981172" y="206400"/>
            <a:ext cx="5851126" cy="4579775"/>
          </a:xfrm>
          <a:prstGeom prst="rect">
            <a:avLst/>
          </a:prstGeom>
          <a:noFill/>
          <a:ln>
            <a:noFill/>
          </a:ln>
        </p:spPr>
      </p:pic>
      <p:sp>
        <p:nvSpPr>
          <p:cNvPr id="93" name="Google Shape;93;p17"/>
          <p:cNvSpPr txBox="1"/>
          <p:nvPr>
            <p:ph type="title"/>
          </p:nvPr>
        </p:nvSpPr>
        <p:spPr>
          <a:xfrm>
            <a:off x="230700" y="470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720"/>
              <a:t>4</a:t>
            </a:r>
            <a:r>
              <a:rPr lang="en" sz="1720"/>
              <a:t>/4</a:t>
            </a:r>
            <a:endParaRPr sz="17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49250" y="21044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720"/>
              <a:t>Thank you for listening!</a:t>
            </a:r>
            <a:endParaRPr sz="272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Hardware We Need</a:t>
            </a:r>
            <a:endParaRPr/>
          </a:p>
        </p:txBody>
      </p:sp>
      <p:sp>
        <p:nvSpPr>
          <p:cNvPr id="104" name="Google Shape;10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Pulse </a:t>
            </a:r>
            <a:r>
              <a:rPr lang="en">
                <a:solidFill>
                  <a:schemeClr val="dk1"/>
                </a:solidFill>
              </a:rPr>
              <a:t>Oximeter</a:t>
            </a:r>
            <a:r>
              <a:rPr lang="en">
                <a:solidFill>
                  <a:schemeClr val="dk1"/>
                </a:solidFill>
              </a:rPr>
              <a:t> Sensor($3)</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Environment Humidity and Temperature Sensor($10)</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Heart Rate Sensor($12)</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Stress and Emotion Sensor[GSR Sensor]($11)</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 Idea</a:t>
            </a:r>
            <a:endParaRPr/>
          </a:p>
        </p:txBody>
      </p:sp>
      <p:sp>
        <p:nvSpPr>
          <p:cNvPr id="110" name="Google Shape;11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Hardware: A kind of wearable that is able to track various different streams of data(including, but not limited to, heart rate, perspiration, etc.)</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 Software: 2 Components(AI and Not AI)</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Non AI component: Being able to automatically connect with other services(ie texting a loved one or emergency services if you fall, automatically syncing with temperature or weather outside, etc.)</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AI component: Being a kind of AI doctor? It should be able to that is able to take various inputs from the embedded sensors and generate outputs for the user, to improve their life or to make </a:t>
            </a:r>
            <a:r>
              <a:rPr lang="en">
                <a:solidFill>
                  <a:schemeClr val="dk1"/>
                </a:solidFill>
              </a:rPr>
              <a:t>their</a:t>
            </a:r>
            <a:r>
              <a:rPr lang="en">
                <a:solidFill>
                  <a:schemeClr val="dk1"/>
                </a:solidFill>
              </a:rPr>
              <a:t> body healthier.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